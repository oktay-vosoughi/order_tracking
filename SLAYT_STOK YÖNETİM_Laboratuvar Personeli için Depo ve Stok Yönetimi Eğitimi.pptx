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tap ŞİMŞEK" userId="24a760af-1914-4caa-aabb-5c0720cbe807" providerId="ADAL" clId="{8D0659E8-7ED1-4393-847E-1536D86D4782}"/>
    <pc:docChg chg="undo custSel modSld">
      <pc:chgData name="Mehtap ŞİMŞEK" userId="24a760af-1914-4caa-aabb-5c0720cbe807" providerId="ADAL" clId="{8D0659E8-7ED1-4393-847E-1536D86D4782}" dt="2025-12-30T11:48:01.913" v="396" actId="20577"/>
      <pc:docMkLst>
        <pc:docMk/>
      </pc:docMkLst>
      <pc:sldChg chg="modSp mod">
        <pc:chgData name="Mehtap ŞİMŞEK" userId="24a760af-1914-4caa-aabb-5c0720cbe807" providerId="ADAL" clId="{8D0659E8-7ED1-4393-847E-1536D86D4782}" dt="2025-12-30T11:42:33.383" v="281" actId="20577"/>
        <pc:sldMkLst>
          <pc:docMk/>
          <pc:sldMk cId="2334715978" sldId="258"/>
        </pc:sldMkLst>
        <pc:spChg chg="mod">
          <ac:chgData name="Mehtap ŞİMŞEK" userId="24a760af-1914-4caa-aabb-5c0720cbe807" providerId="ADAL" clId="{8D0659E8-7ED1-4393-847E-1536D86D4782}" dt="2025-12-30T11:42:33.383" v="281" actId="20577"/>
          <ac:spMkLst>
            <pc:docMk/>
            <pc:sldMk cId="2334715978" sldId="258"/>
            <ac:spMk id="3" creationId="{2FBE65A2-8770-7249-BE09-7EDA37E2C53E}"/>
          </ac:spMkLst>
        </pc:spChg>
      </pc:sldChg>
      <pc:sldChg chg="modSp mod">
        <pc:chgData name="Mehtap ŞİMŞEK" userId="24a760af-1914-4caa-aabb-5c0720cbe807" providerId="ADAL" clId="{8D0659E8-7ED1-4393-847E-1536D86D4782}" dt="2025-12-30T11:42:48.892" v="283" actId="27636"/>
        <pc:sldMkLst>
          <pc:docMk/>
          <pc:sldMk cId="437183379" sldId="259"/>
        </pc:sldMkLst>
        <pc:spChg chg="mod">
          <ac:chgData name="Mehtap ŞİMŞEK" userId="24a760af-1914-4caa-aabb-5c0720cbe807" providerId="ADAL" clId="{8D0659E8-7ED1-4393-847E-1536D86D4782}" dt="2025-12-30T11:42:48.892" v="283" actId="27636"/>
          <ac:spMkLst>
            <pc:docMk/>
            <pc:sldMk cId="437183379" sldId="259"/>
            <ac:spMk id="2" creationId="{382090F0-8088-08D4-B0EA-744B9E3A0DFD}"/>
          </ac:spMkLst>
        </pc:spChg>
      </pc:sldChg>
      <pc:sldChg chg="modSp mod">
        <pc:chgData name="Mehtap ŞİMŞEK" userId="24a760af-1914-4caa-aabb-5c0720cbe807" providerId="ADAL" clId="{8D0659E8-7ED1-4393-847E-1536D86D4782}" dt="2025-12-30T11:44:28.719" v="321" actId="20577"/>
        <pc:sldMkLst>
          <pc:docMk/>
          <pc:sldMk cId="1603907715" sldId="261"/>
        </pc:sldMkLst>
        <pc:spChg chg="mod">
          <ac:chgData name="Mehtap ŞİMŞEK" userId="24a760af-1914-4caa-aabb-5c0720cbe807" providerId="ADAL" clId="{8D0659E8-7ED1-4393-847E-1536D86D4782}" dt="2025-12-30T11:44:28.719" v="321" actId="20577"/>
          <ac:spMkLst>
            <pc:docMk/>
            <pc:sldMk cId="1603907715" sldId="261"/>
            <ac:spMk id="3" creationId="{EBD56EEB-A01B-E3BB-5AC2-7FDEF70DF94C}"/>
          </ac:spMkLst>
        </pc:spChg>
      </pc:sldChg>
      <pc:sldChg chg="modSp mod">
        <pc:chgData name="Mehtap ŞİMŞEK" userId="24a760af-1914-4caa-aabb-5c0720cbe807" providerId="ADAL" clId="{8D0659E8-7ED1-4393-847E-1536D86D4782}" dt="2025-12-30T11:47:11.305" v="363" actId="20577"/>
        <pc:sldMkLst>
          <pc:docMk/>
          <pc:sldMk cId="1304664230" sldId="266"/>
        </pc:sldMkLst>
        <pc:spChg chg="mod">
          <ac:chgData name="Mehtap ŞİMŞEK" userId="24a760af-1914-4caa-aabb-5c0720cbe807" providerId="ADAL" clId="{8D0659E8-7ED1-4393-847E-1536D86D4782}" dt="2025-12-30T11:47:11.305" v="363" actId="20577"/>
          <ac:spMkLst>
            <pc:docMk/>
            <pc:sldMk cId="1304664230" sldId="266"/>
            <ac:spMk id="3" creationId="{93C690FC-3625-5703-E79A-17E72BB0595C}"/>
          </ac:spMkLst>
        </pc:spChg>
      </pc:sldChg>
      <pc:sldChg chg="modSp mod">
        <pc:chgData name="Mehtap ŞİMŞEK" userId="24a760af-1914-4caa-aabb-5c0720cbe807" providerId="ADAL" clId="{8D0659E8-7ED1-4393-847E-1536D86D4782}" dt="2025-12-30T11:48:01.913" v="396" actId="20577"/>
        <pc:sldMkLst>
          <pc:docMk/>
          <pc:sldMk cId="1821416475" sldId="267"/>
        </pc:sldMkLst>
        <pc:spChg chg="mod">
          <ac:chgData name="Mehtap ŞİMŞEK" userId="24a760af-1914-4caa-aabb-5c0720cbe807" providerId="ADAL" clId="{8D0659E8-7ED1-4393-847E-1536D86D4782}" dt="2025-12-30T11:48:01.913" v="396" actId="20577"/>
          <ac:spMkLst>
            <pc:docMk/>
            <pc:sldMk cId="1821416475" sldId="267"/>
            <ac:spMk id="3" creationId="{D23BC98F-BA9C-3C09-74A1-6951732C6DEF}"/>
          </ac:spMkLst>
        </pc:spChg>
      </pc:sldChg>
      <pc:sldChg chg="modSp mod">
        <pc:chgData name="Mehtap ŞİMŞEK" userId="24a760af-1914-4caa-aabb-5c0720cbe807" providerId="ADAL" clId="{8D0659E8-7ED1-4393-847E-1536D86D4782}" dt="2025-12-29T07:17:49.640" v="264" actId="5793"/>
        <pc:sldMkLst>
          <pc:docMk/>
          <pc:sldMk cId="306377081" sldId="272"/>
        </pc:sldMkLst>
        <pc:spChg chg="mod">
          <ac:chgData name="Mehtap ŞİMŞEK" userId="24a760af-1914-4caa-aabb-5c0720cbe807" providerId="ADAL" clId="{8D0659E8-7ED1-4393-847E-1536D86D4782}" dt="2025-12-29T07:17:49.640" v="264" actId="5793"/>
          <ac:spMkLst>
            <pc:docMk/>
            <pc:sldMk cId="306377081" sldId="272"/>
            <ac:spMk id="3" creationId="{F38D7433-53AD-E57B-ED15-7C3D63568E32}"/>
          </ac:spMkLst>
        </pc:spChg>
      </pc:sldChg>
      <pc:sldChg chg="modSp mod">
        <pc:chgData name="Mehtap ŞİMŞEK" userId="24a760af-1914-4caa-aabb-5c0720cbe807" providerId="ADAL" clId="{8D0659E8-7ED1-4393-847E-1536D86D4782}" dt="2025-12-29T07:18:57.390" v="277" actId="1076"/>
        <pc:sldMkLst>
          <pc:docMk/>
          <pc:sldMk cId="3322183506" sldId="273"/>
        </pc:sldMkLst>
        <pc:spChg chg="mod">
          <ac:chgData name="Mehtap ŞİMŞEK" userId="24a760af-1914-4caa-aabb-5c0720cbe807" providerId="ADAL" clId="{8D0659E8-7ED1-4393-847E-1536D86D4782}" dt="2025-12-29T07:18:49.890" v="276" actId="1076"/>
          <ac:spMkLst>
            <pc:docMk/>
            <pc:sldMk cId="3322183506" sldId="273"/>
            <ac:spMk id="3" creationId="{2A9CECFE-B1A9-8DF4-9948-8F3E2C35CA95}"/>
          </ac:spMkLst>
        </pc:spChg>
        <pc:picChg chg="mod">
          <ac:chgData name="Mehtap ŞİMŞEK" userId="24a760af-1914-4caa-aabb-5c0720cbe807" providerId="ADAL" clId="{8D0659E8-7ED1-4393-847E-1536D86D4782}" dt="2025-12-29T07:18:57.390" v="277" actId="1076"/>
          <ac:picMkLst>
            <pc:docMk/>
            <pc:sldMk cId="3322183506" sldId="273"/>
            <ac:picMk id="4" creationId="{2DA2F8D3-74DA-BEF8-619A-0706A5164C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4C4E91-23AF-8784-2B0A-07777DF00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CB2797D-5D42-D4B8-5EE6-E058689C4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5A090E5-8B7B-E6D8-9638-F4D7C493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C4A4CC-7BF8-5F8B-123A-65C93341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0EF5A1-2D6F-214F-8D88-B7C6C663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196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600D1B-831A-EEDA-6069-88178BF6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6F45F3-87B7-3679-556B-5DAB7077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9BAE0A-3401-BFB1-8FA4-228E6468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1536F21-705E-DF5D-E459-FE2F92F9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60FCA98-0E1F-A68C-094A-2BEBD890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604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7EFE7B-1D0D-1E6F-E6C3-4BE8E7F2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A8D471D-CCC7-24F6-C3EC-1E3120146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493D66-298A-955E-89B7-07D7FE98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72AA09-B5D2-89C0-ED87-43EF0549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626D53-C677-E907-D0CF-85AA84B8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86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FC4DCF-E089-D2B8-2D15-D34ED045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B75E47-2D5B-D53D-DAB9-E9F115A96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67ED02D-D25C-9925-72FB-7A6B8ED79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14C3A6A-DDB5-6960-77EE-4F8E7DC8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75E3A84-FD5F-29CE-7B99-AAEEA43A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F41F4D7-55EB-6B5B-57A3-90CC5F4A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937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3F8E4C-3B5F-E4F2-6415-71A20FF1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EB8359B-C24F-C646-F89D-C76208B3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476D740-5844-7456-6DA3-E3A9AE091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C82B806-E20A-C5A6-4A5E-8399C55E1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DBA3C4D-6DD1-D7D1-90CD-551B6FD5E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E951E1A-EF10-6E71-7F48-B300600E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E57EBF-FA0E-D392-95F7-DA2F18BA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91C70EF-DEC7-C7FA-EB50-5094FE73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58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44B684-48B3-30C6-53DC-6FD1B426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5F6EA6F-793D-94B5-635B-503AFE37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6EB0F1C-6334-6FE2-B058-0B5646F7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1D1996E-E446-482C-D9F7-9D2C84F16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652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070A96A-899D-8C5F-CAB9-E0F783E9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914B84E-2B53-DEFC-A5B5-4CB6781B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18AE12D-4FA7-CE22-E3F8-A221B308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649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811EEE-0AF9-8A4D-18F8-08BF7046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A2C514-E3A6-352D-6745-0CDD2B0F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8DC22A6-4530-719E-7526-755E77B5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D1CEBCD-1D53-033B-B201-BA55BE2A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0E0AC29-A19F-5E13-7F22-98AC93BD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750A1CB-E2E2-6620-02FF-F0DBD646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309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44FDCD-2A69-3D6A-7A10-B42A4210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C5B421C-F104-D786-B1E0-4798937D9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146D7BD-85CA-5AF8-39B5-E62CCCC24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40B929E-78D5-9051-DE9E-7C00B380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7B26CF-35DE-0332-C6BE-3F45C823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FF97859-5744-F773-EB27-57F1DBAA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087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BDCA3E-A451-ED3C-AD34-B40B5A75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70EA461-4EE6-D170-F728-13A5C5360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EF1328-4798-14BA-665B-D4E48EA7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A9EE2A-DDC9-F3BE-52FE-B19CFABD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BB4274-09D8-302C-261F-96B2C3E6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927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1E8198A-E6A5-FC1B-A2BF-3EA03CE94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0BBAE2F-72F6-62F5-38C9-BBB92707E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BCAF72-FF88-E465-A91B-C69AD445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29144EE-E3D5-BCE1-0C26-56C84C1E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E3F4AAC-A9AF-294C-DD48-5A5B50BE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485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C0EC830-1C1B-90E2-71C1-E883513D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6EB77F9-3A47-04ED-EC68-EA890B91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DFB375-E18F-F2E7-0A77-4F083DDD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1DA26-565A-457D-9D45-A300DC8C04A5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E95E85-5735-4C9C-A8E0-09C1F069E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F18E9DF-2297-A566-B8DE-11F014C83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BE831-F30A-426A-B0E9-1DB8C84203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087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AC19B-11C9-382D-3DBB-84F5D7DE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57387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Laboratuvar Personeli için Depo ve Stok Yönetimi Eğitimi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2DB94A0-8980-F7AC-3426-8392687FE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6950"/>
            <a:ext cx="9144000" cy="1720850"/>
          </a:xfrm>
        </p:spPr>
        <p:txBody>
          <a:bodyPr/>
          <a:lstStyle/>
          <a:p>
            <a:r>
              <a:rPr lang="tr-TR" dirty="0"/>
              <a:t>Reaktif – Kimyasal – Sarf Malzeme Yönetimi</a:t>
            </a:r>
          </a:p>
        </p:txBody>
      </p:sp>
    </p:spTree>
    <p:extLst>
      <p:ext uri="{BB962C8B-B14F-4D97-AF65-F5344CB8AC3E}">
        <p14:creationId xmlns:p14="http://schemas.microsoft.com/office/powerpoint/2010/main" val="1734545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CF1CA6-6DD1-27D7-3710-5E8538D4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Eğitimin Amacı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08E9DE-28E8-B430-24AA-EC500B70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86075"/>
          </a:xfrm>
        </p:spPr>
        <p:txBody>
          <a:bodyPr/>
          <a:lstStyle/>
          <a:p>
            <a:pPr lvl="0"/>
            <a:r>
              <a:rPr lang="tr-TR" dirty="0"/>
              <a:t>Reaktif ve kimyasal stoklarını doğru yönetmek</a:t>
            </a:r>
          </a:p>
          <a:p>
            <a:pPr lvl="0"/>
            <a:r>
              <a:rPr lang="tr-TR" dirty="0"/>
              <a:t>Son kullanma tarihi ve lot takibini sağlamak</a:t>
            </a:r>
          </a:p>
          <a:p>
            <a:pPr lvl="0"/>
            <a:r>
              <a:rPr lang="tr-TR" dirty="0"/>
              <a:t>Güvenli ve düzenli depo ortamı oluşturmak</a:t>
            </a:r>
          </a:p>
          <a:p>
            <a:pPr lvl="0"/>
            <a:r>
              <a:rPr lang="tr-TR" dirty="0"/>
              <a:t>Analiz hatalarını ve fireyi azaltmak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1790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B2FD17-70FE-FCE4-489E-86D8FE30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Laboratuvar Deposu Nedir?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BE65A2-8770-7249-BE09-7EDA37E2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Analizlerde kullanılan tüm malzemelerin saklandığı alan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/>
              <a:t>Depo Kapsamı</a:t>
            </a:r>
          </a:p>
          <a:p>
            <a:pPr marL="0" indent="0">
              <a:buNone/>
            </a:pPr>
            <a:endParaRPr lang="tr-TR" dirty="0"/>
          </a:p>
          <a:p>
            <a:pPr lvl="0"/>
            <a:r>
              <a:rPr lang="tr-TR" dirty="0"/>
              <a:t>Reaktifler</a:t>
            </a:r>
          </a:p>
          <a:p>
            <a:pPr lvl="0"/>
            <a:r>
              <a:rPr lang="tr-TR" dirty="0"/>
              <a:t>Kimyasallar</a:t>
            </a:r>
          </a:p>
          <a:p>
            <a:pPr lvl="0"/>
            <a:r>
              <a:rPr lang="tr-TR" dirty="0"/>
              <a:t>Sarf malzemeleri</a:t>
            </a:r>
          </a:p>
          <a:p>
            <a:pPr lvl="0"/>
            <a:r>
              <a:rPr lang="tr-TR" dirty="0"/>
              <a:t>Referans standartlar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471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2090F0-8088-08D4-B0EA-744B9E3A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/>
            </a:br>
            <a:r>
              <a:rPr lang="tr-TR" b="1" dirty="0"/>
              <a:t>Neden </a:t>
            </a:r>
            <a:r>
              <a:rPr lang="tr-TR" b="1" dirty="0" err="1"/>
              <a:t>Lab</a:t>
            </a:r>
            <a:r>
              <a:rPr lang="tr-TR" b="1" dirty="0"/>
              <a:t> Depo Yönetimi Önemlidir?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EDF85F-EFC3-1A12-618B-2D927951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Yanlış reaktif → yanlış analiz sonucu</a:t>
            </a:r>
          </a:p>
          <a:p>
            <a:pPr lvl="0"/>
            <a:r>
              <a:rPr lang="tr-TR" dirty="0"/>
              <a:t>Miadı geçmiş ürün → geçersiz sonuç</a:t>
            </a:r>
          </a:p>
          <a:p>
            <a:pPr lvl="0"/>
            <a:r>
              <a:rPr lang="tr-TR" dirty="0"/>
              <a:t>Uygunsuz saklama → güvenlik riski</a:t>
            </a:r>
          </a:p>
          <a:p>
            <a:pPr lvl="0"/>
            <a:r>
              <a:rPr lang="tr-TR" dirty="0"/>
              <a:t>Denetimlerde uygunsuzluk riski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3718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A49996-9F37-0B99-4CAA-2B8AC50D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Laboratuvar Depo Kuralları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C42AF3-B974-E5A4-5C0D-05E17D2F6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Yetkili personel erişimi</a:t>
            </a:r>
          </a:p>
          <a:p>
            <a:pPr lvl="0"/>
            <a:r>
              <a:rPr lang="tr-TR" dirty="0"/>
              <a:t>Etiketli ve tanımlı ürünler</a:t>
            </a:r>
          </a:p>
          <a:p>
            <a:pPr lvl="0"/>
            <a:r>
              <a:rPr lang="tr-TR" dirty="0"/>
              <a:t>MSDS/SDS erişilebilir olmalı</a:t>
            </a:r>
          </a:p>
          <a:p>
            <a:r>
              <a:rPr lang="tr-TR" dirty="0"/>
              <a:t>Düzenli kayıt ve takip</a:t>
            </a:r>
          </a:p>
        </p:txBody>
      </p:sp>
    </p:spTree>
    <p:extLst>
      <p:ext uri="{BB962C8B-B14F-4D97-AF65-F5344CB8AC3E}">
        <p14:creationId xmlns:p14="http://schemas.microsoft.com/office/powerpoint/2010/main" val="342590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49BF14-2D8E-609B-7476-806C6C51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Ürün Kabul Süreci (</a:t>
            </a:r>
            <a:r>
              <a:rPr lang="tr-TR" b="1" dirty="0" err="1"/>
              <a:t>Lab</a:t>
            </a:r>
            <a:r>
              <a:rPr lang="tr-TR" b="1" dirty="0"/>
              <a:t> Odaklı)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D56EEB-A01B-E3BB-5AC2-7FDEF70DF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Gelen ürün kontrolü</a:t>
            </a:r>
          </a:p>
          <a:p>
            <a:pPr lvl="0"/>
            <a:r>
              <a:rPr lang="tr-TR" dirty="0"/>
              <a:t>Lot numarası ve SKT kontrolü</a:t>
            </a:r>
          </a:p>
          <a:p>
            <a:pPr lvl="0"/>
            <a:r>
              <a:rPr lang="tr-TR" dirty="0"/>
              <a:t>Hasar ve sızıntı kontrolü</a:t>
            </a:r>
          </a:p>
          <a:p>
            <a:r>
              <a:rPr lang="tr-TR" dirty="0"/>
              <a:t>Depo giriş kaydı (malzeme takip listesi)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Kabul kısmında doldurulan; ‘’Satın Alınan Malzemenin İade Kabul Formu’’</a:t>
            </a:r>
          </a:p>
        </p:txBody>
      </p:sp>
    </p:spTree>
    <p:extLst>
      <p:ext uri="{BB962C8B-B14F-4D97-AF65-F5344CB8AC3E}">
        <p14:creationId xmlns:p14="http://schemas.microsoft.com/office/powerpoint/2010/main" val="160390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39EDE4-E7BB-EE08-1788-97581FAA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Etiketleme ve Tanımlama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05DA58-246C-BD2A-475B-6E8F0EFC7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Ürün adı</a:t>
            </a:r>
          </a:p>
          <a:p>
            <a:pPr lvl="0"/>
            <a:r>
              <a:rPr lang="tr-TR" dirty="0"/>
              <a:t>Lot numarası</a:t>
            </a:r>
          </a:p>
          <a:p>
            <a:pPr lvl="0"/>
            <a:r>
              <a:rPr lang="tr-TR" dirty="0"/>
              <a:t>Son kullanma tarihi</a:t>
            </a:r>
          </a:p>
          <a:p>
            <a:pPr lvl="0"/>
            <a:r>
              <a:rPr lang="tr-TR" dirty="0"/>
              <a:t>Saklama koşulu</a:t>
            </a:r>
          </a:p>
          <a:p>
            <a:pPr lvl="0"/>
            <a:r>
              <a:rPr lang="tr-TR" dirty="0"/>
              <a:t>Açılış tarihi (varsa)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128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9F86C6-D0B1-5AA1-C17A-21B8BD05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Saklama Koşulları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3FBD6A-5FA0-A23B-A1E1-A5FAA8571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Oda sıcaklığı (RT)</a:t>
            </a:r>
          </a:p>
          <a:p>
            <a:pPr lvl="0"/>
            <a:r>
              <a:rPr lang="tr-TR" dirty="0"/>
              <a:t>Buzdolabı (+2/+8 °C)</a:t>
            </a:r>
          </a:p>
          <a:p>
            <a:pPr lvl="0"/>
            <a:r>
              <a:rPr lang="tr-TR" dirty="0"/>
              <a:t>Derin dondurucu (-20 / -80 °C)</a:t>
            </a:r>
          </a:p>
          <a:p>
            <a:pPr lvl="0"/>
            <a:r>
              <a:rPr lang="tr-TR" dirty="0"/>
              <a:t>Işıktan korunan alanlar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080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DA1331-F1E4-C2FC-67A4-C26B8290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FIFO / FEFO Uygulaması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84BA8C-95A8-D081-7E57-17495391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b="1" dirty="0"/>
              <a:t>FEFO (First </a:t>
            </a:r>
            <a:r>
              <a:rPr lang="tr-TR" b="1" dirty="0" err="1"/>
              <a:t>Expired</a:t>
            </a:r>
            <a:r>
              <a:rPr lang="tr-TR" b="1" dirty="0"/>
              <a:t> First </a:t>
            </a:r>
            <a:r>
              <a:rPr lang="tr-TR" b="1" dirty="0" err="1"/>
              <a:t>Out</a:t>
            </a:r>
            <a:r>
              <a:rPr lang="tr-TR" b="1" dirty="0"/>
              <a:t>)</a:t>
            </a:r>
            <a:r>
              <a:rPr lang="tr-TR" dirty="0"/>
              <a:t> önceliklidir</a:t>
            </a:r>
          </a:p>
          <a:p>
            <a:pPr lvl="0"/>
            <a:r>
              <a:rPr lang="tr-TR" dirty="0"/>
              <a:t>SKT’ye göre raf düzeni</a:t>
            </a:r>
          </a:p>
          <a:p>
            <a:pPr lvl="0"/>
            <a:r>
              <a:rPr lang="tr-TR" dirty="0"/>
              <a:t>Kısa </a:t>
            </a:r>
            <a:r>
              <a:rPr lang="tr-TR" dirty="0" err="1"/>
              <a:t>miatlı</a:t>
            </a:r>
            <a:r>
              <a:rPr lang="tr-TR" dirty="0"/>
              <a:t> ürünler önde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592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CB4DE0-5EF1-BD82-20B5-C9109A37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Kimyasal Uyumluluk ve Güvenlik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A679EF-A279-984F-C83B-AD6D96B22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Asit–baz ayrı saklanmalı</a:t>
            </a:r>
          </a:p>
          <a:p>
            <a:pPr lvl="0"/>
            <a:r>
              <a:rPr lang="tr-TR" dirty="0"/>
              <a:t>Oksitleyici ve yanıcı maddeler ayrı</a:t>
            </a:r>
          </a:p>
          <a:p>
            <a:pPr lvl="0"/>
            <a:r>
              <a:rPr lang="tr-TR" dirty="0"/>
              <a:t>Uyum tablolarına göre raflama</a:t>
            </a:r>
          </a:p>
          <a:p>
            <a:pPr lvl="0"/>
            <a:r>
              <a:rPr lang="tr-TR" dirty="0"/>
              <a:t>Dökülme kitleri hazır olmalı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249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4E3316-AB3C-C3D1-14C0-3EEB6735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Sarf ve Reaktif Kullanım Takibi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C690FC-3625-5703-E79A-17E72BB0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Kullanım miktarı kaydı (web uygulamaları ile gerçekleştiriliyor)</a:t>
            </a:r>
          </a:p>
          <a:p>
            <a:pPr lvl="0"/>
            <a:r>
              <a:rPr lang="tr-TR" dirty="0"/>
              <a:t>Açılan ürün takibi (Depo çıkışı kayıtları)</a:t>
            </a:r>
          </a:p>
          <a:p>
            <a:pPr lvl="0"/>
            <a:r>
              <a:rPr lang="tr-TR" dirty="0"/>
              <a:t>Minimum stok seviyesi belirleme (Malzeme Sayım Formu)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04664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ED1D9C-2711-BD45-6BA1-77A896D4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Stok Sayımı (Laboratuvar)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3BC98F-BA9C-3C09-74A1-6951732C6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Aylık reaktif kontrolü (Her ayın 1. ve 15. gününü kapsayan sayımlardır.)</a:t>
            </a:r>
          </a:p>
          <a:p>
            <a:pPr lvl="0"/>
            <a:r>
              <a:rPr lang="tr-TR" dirty="0"/>
              <a:t>Kritik ürünler için haftalık takip (Günlük Malzeme Listesi Kontrolü)</a:t>
            </a:r>
          </a:p>
          <a:p>
            <a:r>
              <a:rPr lang="tr-TR" dirty="0"/>
              <a:t>SKT yaklaşan ürünlerin raporlanması (Ay sonu finans raporu)</a:t>
            </a:r>
          </a:p>
        </p:txBody>
      </p:sp>
    </p:spTree>
    <p:extLst>
      <p:ext uri="{BB962C8B-B14F-4D97-AF65-F5344CB8AC3E}">
        <p14:creationId xmlns:p14="http://schemas.microsoft.com/office/powerpoint/2010/main" val="1821416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25C822-BE36-DA0E-DD26-AC05E876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Fire ve Atık Yönetimi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546F45-5A79-6E09-AF5E-27310E727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Miadı dolan ürünler</a:t>
            </a:r>
          </a:p>
          <a:p>
            <a:pPr lvl="0"/>
            <a:r>
              <a:rPr lang="tr-TR" dirty="0"/>
              <a:t>Kontamine kimyasallar</a:t>
            </a:r>
          </a:p>
          <a:p>
            <a:pPr lvl="0"/>
            <a:r>
              <a:rPr lang="tr-TR" dirty="0"/>
              <a:t>Atık sınıflandırması</a:t>
            </a:r>
          </a:p>
          <a:p>
            <a:pPr lvl="0"/>
            <a:r>
              <a:rPr lang="tr-TR" dirty="0"/>
              <a:t>Kayıt ve bertaraf prosedürü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2671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71E2F8-E389-F86A-2D30-A5B07985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Denetimlerde Dikkat Edilenler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7019B5-0A42-63AE-8BAB-091CC7DC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Etiket uygunluğu</a:t>
            </a:r>
          </a:p>
          <a:p>
            <a:pPr lvl="0"/>
            <a:r>
              <a:rPr lang="tr-TR" dirty="0"/>
              <a:t>SKT ve lot takibi</a:t>
            </a:r>
          </a:p>
          <a:p>
            <a:pPr lvl="0"/>
            <a:r>
              <a:rPr lang="tr-TR" dirty="0"/>
              <a:t>Saklama koşulları</a:t>
            </a:r>
          </a:p>
          <a:p>
            <a:r>
              <a:rPr lang="tr-TR" dirty="0"/>
              <a:t>Kayıtların eksiksizliği</a:t>
            </a:r>
          </a:p>
        </p:txBody>
      </p:sp>
    </p:spTree>
    <p:extLst>
      <p:ext uri="{BB962C8B-B14F-4D97-AF65-F5344CB8AC3E}">
        <p14:creationId xmlns:p14="http://schemas.microsoft.com/office/powerpoint/2010/main" val="90578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5FE927-2978-F3AB-73E5-A5D1018A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Sık Yapılan Hatalar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EB152C-DDF4-B5DE-9A75-9AC2829AF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Açılış tarihi yazmamak</a:t>
            </a:r>
          </a:p>
          <a:p>
            <a:pPr lvl="0"/>
            <a:r>
              <a:rPr lang="tr-TR" dirty="0"/>
              <a:t>Miadı geçen ürünü kullanmak</a:t>
            </a:r>
          </a:p>
          <a:p>
            <a:pPr lvl="0"/>
            <a:r>
              <a:rPr lang="tr-TR" dirty="0"/>
              <a:t>Uygunsuz raflama</a:t>
            </a:r>
          </a:p>
          <a:p>
            <a:r>
              <a:rPr lang="tr-TR" dirty="0"/>
              <a:t>Kayıtsız kullanım</a:t>
            </a:r>
          </a:p>
        </p:txBody>
      </p:sp>
    </p:spTree>
    <p:extLst>
      <p:ext uri="{BB962C8B-B14F-4D97-AF65-F5344CB8AC3E}">
        <p14:creationId xmlns:p14="http://schemas.microsoft.com/office/powerpoint/2010/main" val="635799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18FCBC-423C-E2D0-A4D0-BC6980F7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İyi Uygulama Örnekleri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D39C43-706E-5928-DF5B-912D1016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Renkli etiketleme</a:t>
            </a:r>
          </a:p>
          <a:p>
            <a:pPr lvl="0"/>
            <a:r>
              <a:rPr lang="tr-TR" dirty="0"/>
              <a:t>SKT alarm listeleri</a:t>
            </a:r>
          </a:p>
          <a:p>
            <a:pPr lvl="0"/>
            <a:r>
              <a:rPr lang="tr-TR" dirty="0"/>
              <a:t>Aylık depo kontrol formu</a:t>
            </a:r>
          </a:p>
          <a:p>
            <a:pPr lvl="0"/>
            <a:r>
              <a:rPr lang="tr-TR" dirty="0"/>
              <a:t>Dijital stok takibi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9504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D1105E-BBC6-1543-C8FE-73E4E098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Özet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8D7433-53AD-E57B-ED15-7C3D6356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dirty="0"/>
              <a:t>Güvenli depo = doğru analiz</a:t>
            </a:r>
          </a:p>
          <a:p>
            <a:pPr lvl="0"/>
            <a:r>
              <a:rPr lang="tr-TR" dirty="0"/>
              <a:t>FEFO + kayıt + düzen başarı getirir.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377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C334C4-1AD2-093D-193C-8B40ACA1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016000"/>
            <a:ext cx="10515600" cy="1239838"/>
          </a:xfrm>
        </p:spPr>
        <p:txBody>
          <a:bodyPr>
            <a:normAutofit fontScale="90000"/>
          </a:bodyPr>
          <a:lstStyle/>
          <a:p>
            <a:r>
              <a:rPr lang="tr-TR" dirty="0"/>
              <a:t>				Teşekkürler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9CECFE-B1A9-8DF4-9948-8F3E2C35CA9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2569951" y="5294375"/>
            <a:ext cx="45719" cy="279083"/>
          </a:xfrm>
        </p:spPr>
        <p:txBody>
          <a:bodyPr>
            <a:normAutofit fontScale="85000" lnSpcReduction="20000"/>
          </a:bodyPr>
          <a:lstStyle/>
          <a:p>
            <a:pPr marL="1371600" lvl="3" indent="0">
              <a:buNone/>
            </a:pP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DA2F8D3-74DA-BEF8-619A-0706A516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150" y="1905000"/>
            <a:ext cx="30003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8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384</Words>
  <Application>Microsoft Office PowerPoint</Application>
  <PresentationFormat>Geniş ekran</PresentationFormat>
  <Paragraphs>85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Teması</vt:lpstr>
      <vt:lpstr>Laboratuvar Personeli için Depo ve Stok Yönetimi Eğitimi</vt:lpstr>
      <vt:lpstr>Eğitimin Amacı</vt:lpstr>
      <vt:lpstr>Laboratuvar Deposu Nedir? </vt:lpstr>
      <vt:lpstr> Neden Lab Depo Yönetimi Önemlidir? </vt:lpstr>
      <vt:lpstr>Laboratuvar Depo Kuralları</vt:lpstr>
      <vt:lpstr>Ürün Kabul Süreci (Lab Odaklı) </vt:lpstr>
      <vt:lpstr>Etiketleme ve Tanımlama</vt:lpstr>
      <vt:lpstr>Saklama Koşulları</vt:lpstr>
      <vt:lpstr>FIFO / FEFO Uygulaması</vt:lpstr>
      <vt:lpstr>Kimyasal Uyumluluk ve Güvenlik</vt:lpstr>
      <vt:lpstr>Sarf ve Reaktif Kullanım Takibi</vt:lpstr>
      <vt:lpstr>Stok Sayımı (Laboratuvar) </vt:lpstr>
      <vt:lpstr>Fire ve Atık Yönetimi</vt:lpstr>
      <vt:lpstr>Denetimlerde Dikkat Edilenler</vt:lpstr>
      <vt:lpstr>Sık Yapılan Hatalar</vt:lpstr>
      <vt:lpstr>İyi Uygulama Örnekleri</vt:lpstr>
      <vt:lpstr>Özet</vt:lpstr>
      <vt:lpstr>    Teşekkürler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Mehtap ŞİMŞEK</dc:creator>
  <cp:lastModifiedBy>Mehtap ŞİMŞEK</cp:lastModifiedBy>
  <cp:revision>1</cp:revision>
  <dcterms:created xsi:type="dcterms:W3CDTF">2025-12-25T13:26:13Z</dcterms:created>
  <dcterms:modified xsi:type="dcterms:W3CDTF">2025-12-30T11:48:56Z</dcterms:modified>
</cp:coreProperties>
</file>